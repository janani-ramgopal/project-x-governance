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6"/>
  </p:notesMasterIdLst>
  <p:handoutMasterIdLst>
    <p:handoutMasterId r:id="rId17"/>
  </p:handoutMasterIdLst>
  <p:sldIdLst>
    <p:sldId id="256" r:id="rId5"/>
    <p:sldId id="277" r:id="rId6"/>
    <p:sldId id="261" r:id="rId7"/>
    <p:sldId id="262" r:id="rId8"/>
    <p:sldId id="289" r:id="rId9"/>
    <p:sldId id="264" r:id="rId10"/>
    <p:sldId id="258" r:id="rId11"/>
    <p:sldId id="278" r:id="rId12"/>
    <p:sldId id="266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09" autoAdjust="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75DCD3-4AA9-B0C0-0436-3AB58C383CD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576060"/>
            <a:ext cx="3756025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600">
                <a:solidFill>
                  <a:srgbClr val="737373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DOCUMENT  This document is intended for business use and should be distributed to intended recipients only.</a:t>
            </a:r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4536" y="4522924"/>
            <a:ext cx="8501360" cy="1122202"/>
          </a:xfrm>
        </p:spPr>
        <p:txBody>
          <a:bodyPr/>
          <a:lstStyle/>
          <a:p>
            <a:r>
              <a:rPr lang="en-GB" b="1" dirty="0"/>
              <a:t>Scaling Project X Across AI POCs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/>
          <a:lstStyle/>
          <a:p>
            <a:r>
              <a:rPr lang="en-US" dirty="0"/>
              <a:t>Janani Ramgopal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898" y="244463"/>
            <a:ext cx="4681407" cy="619603"/>
          </a:xfrm>
        </p:spPr>
        <p:txBody>
          <a:bodyPr/>
          <a:lstStyle/>
          <a:p>
            <a:r>
              <a:rPr lang="en-GB" dirty="0"/>
              <a:t>The Enterprise Reality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1175071"/>
            <a:ext cx="3171825" cy="2519363"/>
          </a:xfrm>
        </p:spPr>
        <p:txBody>
          <a:bodyPr>
            <a:normAutofit/>
          </a:bodyPr>
          <a:lstStyle/>
          <a:p>
            <a:r>
              <a:rPr lang="en-GB" dirty="0"/>
              <a:t>Our organisation has over 100 AI POCs built independently across teams. These vary in maturity, technology stack, security posture, and vendor usage. Integrating them directly into Project X would introduce risk, inconsistency, and governance gaps.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GB" b="1" dirty="0"/>
              <a:t>Scaling Project X Across AI POCs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ctr">
            <a:normAutofit fontScale="77500" lnSpcReduction="20000"/>
          </a:bodyPr>
          <a:lstStyle/>
          <a:p>
            <a:r>
              <a:rPr lang="en-GB" dirty="0"/>
              <a:t>Different vendors &amp; tech stacks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sz="1200" dirty="0"/>
              <a:t>No central visibility</a:t>
            </a:r>
            <a:endParaRPr lang="en-US" sz="1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sz="1200" dirty="0"/>
              <a:t>Inconsistent security standards</a:t>
            </a:r>
            <a:br>
              <a:rPr lang="en-GB" sz="1200" dirty="0"/>
            </a:br>
            <a:endParaRPr lang="en-US" sz="12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594564-4FC6-401A-8586-44735EE819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sz="1200" dirty="0"/>
              <a:t>Cost unpredictability</a:t>
            </a:r>
            <a:endParaRPr lang="en-US" sz="12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dirty="0"/>
              <a:t>Fragmented AI ecosystem with heterogeneous technologies and vendors.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Lack of a single source of truth for AI capabilities across the organisation.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/>
              <a:t>Uncontrolled vendor usage leading to unpredictable AI spend.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Loss of productivity costing consumers thousands of dollars </a:t>
            </a:r>
          </a:p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312B71A-5E84-41DE-9754-5F6291F6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Scaling Project X Across AI POCs 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97FC8BE-0F2C-777F-3923-5D36FCEC2496}"/>
              </a:ext>
            </a:extLst>
          </p:cNvPr>
          <p:cNvSpPr txBox="1">
            <a:spLocks/>
          </p:cNvSpPr>
          <p:nvPr/>
        </p:nvSpPr>
        <p:spPr>
          <a:xfrm>
            <a:off x="2778578" y="5580857"/>
            <a:ext cx="2141764" cy="514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No maturity classification</a:t>
            </a:r>
            <a:endParaRPr lang="en-US" sz="1200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534BF843-562A-5D9C-8D67-10AFA71B783D}"/>
              </a:ext>
            </a:extLst>
          </p:cNvPr>
          <p:cNvSpPr txBox="1">
            <a:spLocks/>
          </p:cNvSpPr>
          <p:nvPr/>
        </p:nvSpPr>
        <p:spPr>
          <a:xfrm>
            <a:off x="6304819" y="5590390"/>
            <a:ext cx="5539095" cy="10108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No objective framework to assess production readiness or risk posture.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0D61F22-9761-B509-EB68-BA948BFC85A1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4920342" y="5835272"/>
            <a:ext cx="1311294" cy="276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GB" dirty="0"/>
              <a:t>Standardize Integration, Not Innovation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6364" y="2394945"/>
            <a:ext cx="4031945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 sz="1600" dirty="0"/>
              <a:t>Introduce a centralized AI Governance Layer</a:t>
            </a:r>
            <a:endParaRPr lang="en-US" sz="1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13096" y="2937276"/>
            <a:ext cx="4031030" cy="1057308"/>
          </a:xfrm>
        </p:spPr>
        <p:txBody>
          <a:bodyPr>
            <a:normAutofit/>
          </a:bodyPr>
          <a:lstStyle/>
          <a:p>
            <a:pPr algn="l"/>
            <a:r>
              <a:rPr lang="en-GB" sz="1200" dirty="0"/>
              <a:t>Purpose:</a:t>
            </a:r>
            <a:br>
              <a:rPr lang="en-GB" sz="1200" dirty="0"/>
            </a:br>
            <a:r>
              <a:rPr lang="en-GB" sz="1200" dirty="0"/>
              <a:t>• Registration</a:t>
            </a:r>
            <a:br>
              <a:rPr lang="en-GB" sz="1200" dirty="0"/>
            </a:br>
            <a:r>
              <a:rPr lang="en-GB" sz="1200" dirty="0"/>
              <a:t>• Validation</a:t>
            </a:r>
            <a:br>
              <a:rPr lang="en-GB" sz="1200" dirty="0"/>
            </a:br>
            <a:r>
              <a:rPr lang="en-GB" sz="1200" dirty="0"/>
              <a:t>• Maturity classification</a:t>
            </a:r>
            <a:br>
              <a:rPr lang="en-GB" sz="1200" dirty="0"/>
            </a:br>
            <a:r>
              <a:rPr lang="en-GB" sz="1200" dirty="0"/>
              <a:t>• Enforcement</a:t>
            </a:r>
            <a:endParaRPr lang="en-US" sz="1200" dirty="0"/>
          </a:p>
        </p:txBody>
      </p:sp>
      <p:sp>
        <p:nvSpPr>
          <p:cNvPr id="80" name="Date Placeholder 79">
            <a:extLst>
              <a:ext uri="{FF2B5EF4-FFF2-40B4-BE49-F238E27FC236}">
                <a16:creationId xmlns:a16="http://schemas.microsoft.com/office/drawing/2014/main" id="{BC1F9D86-85D8-4FD0-B0D3-47D77872278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81" name="Footer Placeholder 80">
            <a:extLst>
              <a:ext uri="{FF2B5EF4-FFF2-40B4-BE49-F238E27FC236}">
                <a16:creationId xmlns:a16="http://schemas.microsoft.com/office/drawing/2014/main" id="{E94F1D24-E4A1-4B59-B57E-A28453963B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b="1" dirty="0"/>
              <a:t>Scaling Project X Across AI POCs </a:t>
            </a:r>
            <a:endParaRPr lang="en-US" dirty="0"/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4" name="Picture 23" descr="Project X -&gt; Governance Layer -&gt; AI POCs">
            <a:extLst>
              <a:ext uri="{FF2B5EF4-FFF2-40B4-BE49-F238E27FC236}">
                <a16:creationId xmlns:a16="http://schemas.microsoft.com/office/drawing/2014/main" id="{1D510DAB-B658-FFD7-0949-3B29A8F64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471" y="2094296"/>
            <a:ext cx="3552444" cy="355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/>
          <a:lstStyle/>
          <a:p>
            <a:r>
              <a:rPr lang="en-GB" dirty="0"/>
              <a:t>Governance Layer Capabilities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545557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 dirty="0"/>
              <a:t>Model Registry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874982"/>
            <a:ext cx="5431971" cy="557950"/>
          </a:xfrm>
        </p:spPr>
        <p:txBody>
          <a:bodyPr>
            <a:normAutofit/>
          </a:bodyPr>
          <a:lstStyle/>
          <a:p>
            <a:r>
              <a:rPr lang="en-GB" dirty="0"/>
              <a:t>A centralized catalogue of all AI models with ownership, risk, and metadata transparency.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1645353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Maturity Scoring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1974778"/>
            <a:ext cx="5431971" cy="557950"/>
          </a:xfrm>
        </p:spPr>
        <p:txBody>
          <a:bodyPr/>
          <a:lstStyle/>
          <a:p>
            <a:r>
              <a:rPr lang="en-GB" dirty="0"/>
              <a:t>Objective, criteria-based assessment of AI readiness and operational stability.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2745149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Policy Validation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21828" y="3074574"/>
            <a:ext cx="5431971" cy="557950"/>
          </a:xfrm>
        </p:spPr>
        <p:txBody>
          <a:bodyPr/>
          <a:lstStyle/>
          <a:p>
            <a:r>
              <a:rPr lang="en-GB" dirty="0"/>
              <a:t>Automated rule enforcement to ensure compliance before model integration.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20106" y="3844946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Runtime Enforcement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F39C97C-2DDC-4706-B96C-B02FAE53A42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919680" y="4174371"/>
            <a:ext cx="5431971" cy="557950"/>
          </a:xfrm>
        </p:spPr>
        <p:txBody>
          <a:bodyPr/>
          <a:lstStyle/>
          <a:p>
            <a:r>
              <a:rPr lang="en-GB" dirty="0"/>
              <a:t>Real-time control over model access, usage conditions, and invocation eligibility.</a:t>
            </a:r>
            <a:endParaRPr lang="en-US" dirty="0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/>
          <a:p>
            <a:r>
              <a:rPr lang="en-GB" b="1" dirty="0"/>
              <a:t>Scaling Project X Across AI POCs 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1172F79C-15FD-B1BF-B063-5D8F18908210}"/>
              </a:ext>
            </a:extLst>
          </p:cNvPr>
          <p:cNvSpPr txBox="1">
            <a:spLocks/>
          </p:cNvSpPr>
          <p:nvPr/>
        </p:nvSpPr>
        <p:spPr>
          <a:xfrm>
            <a:off x="5918447" y="4946725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Audit &amp; Visibility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C8AF721-D7BC-4CC2-A9C7-B5EDFE96FE28}"/>
              </a:ext>
            </a:extLst>
          </p:cNvPr>
          <p:cNvSpPr txBox="1">
            <a:spLocks/>
          </p:cNvSpPr>
          <p:nvPr/>
        </p:nvSpPr>
        <p:spPr>
          <a:xfrm>
            <a:off x="5918021" y="5276150"/>
            <a:ext cx="5431971" cy="557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End-to-end traceability of AI usage, decisions, and governance actions.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745" y="-183666"/>
            <a:ext cx="5111750" cy="1204912"/>
          </a:xfrm>
        </p:spPr>
        <p:txBody>
          <a:bodyPr/>
          <a:lstStyle/>
          <a:p>
            <a:r>
              <a:rPr lang="en-GB" dirty="0"/>
              <a:t>Maturity Tier Model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A095E-DB05-47EC-A2D5-47398A4A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927294" cy="365125"/>
          </a:xfrm>
        </p:spPr>
        <p:txBody>
          <a:bodyPr/>
          <a:lstStyle/>
          <a:p>
            <a:r>
              <a:rPr lang="en-GB" b="1" dirty="0"/>
              <a:t>Scaling Project X Across AI POCs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2F133C5-0B5C-E2DF-ED7F-0CC30AB137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127942"/>
              </p:ext>
            </p:extLst>
          </p:nvPr>
        </p:nvGraphicFramePr>
        <p:xfrm>
          <a:off x="949738" y="1616764"/>
          <a:ext cx="3988906" cy="21266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1994453">
                  <a:extLst>
                    <a:ext uri="{9D8B030D-6E8A-4147-A177-3AD203B41FA5}">
                      <a16:colId xmlns:a16="http://schemas.microsoft.com/office/drawing/2014/main" val="3142931996"/>
                    </a:ext>
                  </a:extLst>
                </a:gridCol>
                <a:gridCol w="1994453">
                  <a:extLst>
                    <a:ext uri="{9D8B030D-6E8A-4147-A177-3AD203B41FA5}">
                      <a16:colId xmlns:a16="http://schemas.microsoft.com/office/drawing/2014/main" val="2022852294"/>
                    </a:ext>
                  </a:extLst>
                </a:gridCol>
              </a:tblGrid>
              <a:tr h="365002">
                <a:tc>
                  <a:txBody>
                    <a:bodyPr/>
                    <a:lstStyle/>
                    <a:p>
                      <a:pPr algn="ctr"/>
                      <a:r>
                        <a:rPr lang="en-GB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Tier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Meaning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2171675"/>
                  </a:ext>
                </a:extLst>
              </a:tr>
              <a:tr h="35218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Experimental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4553757"/>
                  </a:ext>
                </a:extLst>
              </a:tr>
              <a:tr h="35218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POC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42741690"/>
                  </a:ext>
                </a:extLst>
              </a:tr>
              <a:tr h="35218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Controlled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2409070"/>
                  </a:ext>
                </a:extLst>
              </a:tr>
              <a:tr h="35218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Production Ready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94971731"/>
                  </a:ext>
                </a:extLst>
              </a:tr>
              <a:tr h="35218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Enterprise Critical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1550053"/>
                  </a:ext>
                </a:extLst>
              </a:tr>
            </a:tbl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462B70-ED2F-9A05-3F92-32212B61F50B}"/>
              </a:ext>
            </a:extLst>
          </p:cNvPr>
          <p:cNvSpPr/>
          <p:nvPr/>
        </p:nvSpPr>
        <p:spPr>
          <a:xfrm>
            <a:off x="6497983" y="3388140"/>
            <a:ext cx="3719443" cy="241631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Maturity is calculated based on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Security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Logging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SLA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Risk assessment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Monitoring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8F2013-1EEA-A92F-2F6D-DBB25A16EFFC}"/>
              </a:ext>
            </a:extLst>
          </p:cNvPr>
          <p:cNvSpPr txBox="1"/>
          <p:nvPr/>
        </p:nvSpPr>
        <p:spPr>
          <a:xfrm>
            <a:off x="871745" y="1166389"/>
            <a:ext cx="83856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Maturity is not self-declared. It is calculated objectively based on governance criteria. Project X can define minimum tier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Runtime Enforcement Flow</a:t>
            </a:r>
            <a:endParaRPr lang="en-US" dirty="0"/>
          </a:p>
        </p:txBody>
      </p:sp>
      <p:pic>
        <p:nvPicPr>
          <p:cNvPr id="8" name="Picture 7" descr="A diagram of a project">
            <a:extLst>
              <a:ext uri="{FF2B5EF4-FFF2-40B4-BE49-F238E27FC236}">
                <a16:creationId xmlns:a16="http://schemas.microsoft.com/office/drawing/2014/main" id="{A4831D65-C60F-FFD2-92A8-F643F5D35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032" y="1284732"/>
            <a:ext cx="9647936" cy="542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5156" y="195994"/>
            <a:ext cx="3369130" cy="585788"/>
          </a:xfrm>
        </p:spPr>
        <p:txBody>
          <a:bodyPr>
            <a:normAutofit fontScale="90000"/>
          </a:bodyPr>
          <a:lstStyle/>
          <a:p>
            <a:r>
              <a:rPr lang="en-GB" dirty="0"/>
              <a:t>evolution into </a:t>
            </a:r>
            <a:br>
              <a:rPr lang="en-GB" dirty="0"/>
            </a:br>
            <a:r>
              <a:rPr lang="en-GB" dirty="0"/>
              <a:t>AI Control </a:t>
            </a:r>
            <a:r>
              <a:rPr lang="en-GB" dirty="0" err="1"/>
              <a:t>PlanE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9393" y="1677988"/>
            <a:ext cx="2141764" cy="51435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1200" dirty="0"/>
              <a:t>Traffic control</a:t>
            </a:r>
            <a:endParaRPr lang="en-US" sz="1200" noProof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4069" y="2589214"/>
            <a:ext cx="2586678" cy="514350"/>
          </a:xfrm>
        </p:spPr>
        <p:txBody>
          <a:bodyPr>
            <a:normAutofit/>
          </a:bodyPr>
          <a:lstStyle/>
          <a:p>
            <a:r>
              <a:rPr lang="en-GB" sz="1200" dirty="0"/>
              <a:t>Cost governance</a:t>
            </a:r>
            <a:endParaRPr lang="en-US" sz="1200" noProof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C3A7BE-F7FC-4942-A31A-491A8A8061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48983" y="3818490"/>
            <a:ext cx="2586678" cy="34628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1200" dirty="0"/>
              <a:t>Vendor risk monitoring</a:t>
            </a:r>
            <a:endParaRPr lang="en-US" sz="1200" noProof="1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CCE699-03D1-4642-B46A-B14EF17DA1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85844" y="4780792"/>
            <a:ext cx="2703877" cy="514350"/>
          </a:xfrm>
        </p:spPr>
        <p:txBody>
          <a:bodyPr>
            <a:normAutofit/>
          </a:bodyPr>
          <a:lstStyle/>
          <a:p>
            <a:r>
              <a:rPr lang="en-GB" sz="1200" dirty="0"/>
              <a:t>Real-time revocation</a:t>
            </a:r>
            <a:endParaRPr lang="en-US" sz="1200" noProof="1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1DF189-6F2F-4C21-88CC-C82D3D0D147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6952264" cy="4390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Dynamic regulation of model invocation rates to manage load and risk exposure.</a:t>
            </a:r>
            <a:endParaRPr lang="en-US" noProof="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82690-B145-4D4F-B2D1-0B2A8C50FD7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82565"/>
            <a:ext cx="6728346" cy="420042"/>
          </a:xfrm>
        </p:spPr>
        <p:txBody>
          <a:bodyPr>
            <a:normAutofit/>
          </a:bodyPr>
          <a:lstStyle/>
          <a:p>
            <a:r>
              <a:rPr lang="en-GB" dirty="0"/>
              <a:t>Continuous monitoring and control of AI spend across vendors and use cases.</a:t>
            </a:r>
            <a:endParaRPr lang="en-US" noProof="1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2DA8E2A-05CB-B0E4-CC96-CBE0B3275E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00242" y="3720392"/>
            <a:ext cx="6345602" cy="547958"/>
          </a:xfrm>
        </p:spPr>
        <p:txBody>
          <a:bodyPr/>
          <a:lstStyle/>
          <a:p>
            <a:r>
              <a:rPr lang="en-GB" dirty="0"/>
              <a:t>Centralized oversight of third-party AI dependencies and contractual exposure.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B37FBC6-F3D6-CE60-4CE5-C6D3DBF877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791434" cy="613379"/>
          </a:xfrm>
        </p:spPr>
        <p:txBody>
          <a:bodyPr/>
          <a:lstStyle/>
          <a:p>
            <a:r>
              <a:rPr lang="en-GB" dirty="0"/>
              <a:t>Immediate suspension of model access in response to security, compliance, or performance concerns.</a:t>
            </a:r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Scaling Project X Across AI POCs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1EBED7C1-6269-CC0E-75FB-0690A7BE2311}"/>
              </a:ext>
            </a:extLst>
          </p:cNvPr>
          <p:cNvSpPr txBox="1">
            <a:spLocks/>
          </p:cNvSpPr>
          <p:nvPr/>
        </p:nvSpPr>
        <p:spPr>
          <a:xfrm>
            <a:off x="1848679" y="5643561"/>
            <a:ext cx="2703877" cy="514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Central AI observability</a:t>
            </a:r>
            <a:endParaRPr lang="en-US" sz="1200" noProof="1"/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856CE74-3540-AD8D-94E4-E8AA2A383A64}"/>
              </a:ext>
            </a:extLst>
          </p:cNvPr>
          <p:cNvSpPr txBox="1">
            <a:spLocks/>
          </p:cNvSpPr>
          <p:nvPr/>
        </p:nvSpPr>
        <p:spPr>
          <a:xfrm>
            <a:off x="6438114" y="5687199"/>
            <a:ext cx="5791434" cy="6133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Unified visibility into AI performance, risk posture, and operational health across the enterprise.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738BDBC-191F-AD2A-24F5-9415D08ED6BD}"/>
              </a:ext>
            </a:extLst>
          </p:cNvPr>
          <p:cNvCxnSpPr>
            <a:cxnSpLocks/>
          </p:cNvCxnSpPr>
          <p:nvPr/>
        </p:nvCxnSpPr>
        <p:spPr>
          <a:xfrm>
            <a:off x="4695055" y="5903496"/>
            <a:ext cx="1533467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822" y="370332"/>
            <a:ext cx="9171814" cy="652082"/>
          </a:xfrm>
        </p:spPr>
        <p:txBody>
          <a:bodyPr anchor="b">
            <a:normAutofit/>
          </a:bodyPr>
          <a:lstStyle/>
          <a:p>
            <a:r>
              <a:rPr lang="en-GB" dirty="0"/>
              <a:t>MVP Architecture (What I Would Build First)</a:t>
            </a:r>
            <a:endParaRPr lang="en-US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8ACA1CC5-BE53-E24E-94B6-A5FDBB8EE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87327" y="4482409"/>
            <a:ext cx="5111750" cy="1525588"/>
          </a:xfrm>
        </p:spPr>
        <p:txBody>
          <a:bodyPr/>
          <a:lstStyle/>
          <a:p>
            <a:r>
              <a:rPr lang="en-GB" dirty="0"/>
              <a:t>MVP Scope:</a:t>
            </a:r>
          </a:p>
          <a:p>
            <a:r>
              <a:rPr lang="en-GB" dirty="0"/>
              <a:t>• Model Registration API</a:t>
            </a:r>
            <a:br>
              <a:rPr lang="en-GB" dirty="0"/>
            </a:br>
            <a:r>
              <a:rPr lang="en-GB" dirty="0"/>
              <a:t>• Tier Calculation Engine</a:t>
            </a:r>
            <a:br>
              <a:rPr lang="en-GB" dirty="0"/>
            </a:br>
            <a:r>
              <a:rPr lang="en-GB" dirty="0"/>
              <a:t>• Validation Endpoint</a:t>
            </a:r>
            <a:br>
              <a:rPr lang="en-GB" dirty="0"/>
            </a:br>
            <a:r>
              <a:rPr lang="en-GB" dirty="0"/>
              <a:t>• Basic Dashboard</a:t>
            </a:r>
          </a:p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2026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72672" y="6367576"/>
            <a:ext cx="2033311" cy="365125"/>
          </a:xfrm>
        </p:spPr>
        <p:txBody>
          <a:bodyPr anchor="ctr">
            <a:normAutofit/>
          </a:bodyPr>
          <a:lstStyle/>
          <a:p>
            <a:r>
              <a:rPr lang="en-GB" b="1" dirty="0"/>
              <a:t>Scaling Project X Across AI POCs 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31" name="Picture 30" descr="A diagram of a project&#10;&#10;AI-generated content may be incorrect.">
            <a:extLst>
              <a:ext uri="{FF2B5EF4-FFF2-40B4-BE49-F238E27FC236}">
                <a16:creationId xmlns:a16="http://schemas.microsoft.com/office/drawing/2014/main" id="{100120CC-36BC-EFAA-A277-6EFCAADF2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027" y="1503386"/>
            <a:ext cx="5954643" cy="396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361" y="423933"/>
            <a:ext cx="4019274" cy="720171"/>
          </a:xfrm>
        </p:spPr>
        <p:txBody>
          <a:bodyPr/>
          <a:lstStyle/>
          <a:p>
            <a:r>
              <a:rPr lang="en-GB" dirty="0"/>
              <a:t>Enterprise Benefits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657664-A458-4DDD-ACC2-1D87FCD6F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71700" y="1466850"/>
            <a:ext cx="3924300" cy="358483"/>
          </a:xfrm>
        </p:spPr>
        <p:txBody>
          <a:bodyPr/>
          <a:lstStyle/>
          <a:p>
            <a:r>
              <a:rPr lang="en-GB" sz="1600" dirty="0"/>
              <a:t>Safe scaling of AI innovation</a:t>
            </a:r>
            <a:endParaRPr lang="en-US" sz="16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71700" y="1825334"/>
            <a:ext cx="3924300" cy="11080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1200" dirty="0"/>
              <a:t>• Enables federated experimentation without compromising enterprise controls</a:t>
            </a:r>
            <a:br>
              <a:rPr lang="en-GB" sz="1200" dirty="0"/>
            </a:br>
            <a:r>
              <a:rPr lang="en-GB" sz="1200" dirty="0"/>
              <a:t>• Provides a structured path from POC to production</a:t>
            </a:r>
            <a:br>
              <a:rPr lang="en-GB" sz="1200" dirty="0"/>
            </a:br>
            <a:r>
              <a:rPr lang="en-GB" sz="1200" dirty="0"/>
              <a:t>• Supports rapid onboarding of new AI capabilities with guardrails</a:t>
            </a:r>
            <a:endParaRPr lang="en-US" sz="1200" noProof="1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909F2DC-F097-42AB-88E7-0CA09BD5E2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4A37AA9-0BEE-42AC-8CC0-AE5B86635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b="1" dirty="0"/>
              <a:t>Scaling Project X Across AI POCs 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52A75-1CD2-44EC-9374-C83D4604A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6CF5CE0-4003-27F0-A794-D0997E5A1FC4}"/>
              </a:ext>
            </a:extLst>
          </p:cNvPr>
          <p:cNvSpPr txBox="1">
            <a:spLocks/>
          </p:cNvSpPr>
          <p:nvPr/>
        </p:nvSpPr>
        <p:spPr>
          <a:xfrm>
            <a:off x="2116483" y="2921212"/>
            <a:ext cx="3924300" cy="3584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Reduced integration risk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9A58581D-3AEF-873F-2659-70EE3B036F97}"/>
              </a:ext>
            </a:extLst>
          </p:cNvPr>
          <p:cNvSpPr txBox="1">
            <a:spLocks/>
          </p:cNvSpPr>
          <p:nvPr/>
        </p:nvSpPr>
        <p:spPr>
          <a:xfrm>
            <a:off x="2116483" y="3279696"/>
            <a:ext cx="3924300" cy="11080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• Enforces validation before production invocation</a:t>
            </a:r>
            <a:br>
              <a:rPr lang="en-GB" sz="1200" dirty="0"/>
            </a:br>
            <a:r>
              <a:rPr lang="en-GB" sz="1200" dirty="0"/>
              <a:t>• Prevents low-maturity or non-compliant models from exposure</a:t>
            </a:r>
            <a:br>
              <a:rPr lang="en-GB" sz="1200" dirty="0"/>
            </a:br>
            <a:r>
              <a:rPr lang="en-GB" sz="1200" dirty="0"/>
              <a:t>• Decouples Project X from heterogeneous AI implementations</a:t>
            </a:r>
            <a:endParaRPr lang="en-US" sz="1200" noProof="1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74C7CEC-2A61-BB74-C0DE-8592E110FB13}"/>
              </a:ext>
            </a:extLst>
          </p:cNvPr>
          <p:cNvSpPr txBox="1">
            <a:spLocks/>
          </p:cNvSpPr>
          <p:nvPr/>
        </p:nvSpPr>
        <p:spPr>
          <a:xfrm>
            <a:off x="2171700" y="4459539"/>
            <a:ext cx="3924300" cy="3584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Security standardization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0D0FA901-BD6B-9CA1-5927-D0C05DD1DC1D}"/>
              </a:ext>
            </a:extLst>
          </p:cNvPr>
          <p:cNvSpPr txBox="1">
            <a:spLocks/>
          </p:cNvSpPr>
          <p:nvPr/>
        </p:nvSpPr>
        <p:spPr>
          <a:xfrm>
            <a:off x="2171700" y="4818023"/>
            <a:ext cx="3924300" cy="11080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• Ensures consistent logging, SLA, and review requirements</a:t>
            </a:r>
            <a:br>
              <a:rPr lang="en-GB" sz="1200" dirty="0"/>
            </a:br>
            <a:r>
              <a:rPr lang="en-GB" sz="1200" dirty="0"/>
              <a:t>• Applies uniform policy enforcement across all AI integrations</a:t>
            </a:r>
            <a:br>
              <a:rPr lang="en-GB" sz="1200" dirty="0"/>
            </a:br>
            <a:r>
              <a:rPr lang="en-GB" sz="1200" dirty="0"/>
              <a:t>• Reduces exposure to PII and regulatory violations</a:t>
            </a:r>
            <a:endParaRPr lang="en-US" sz="1200" noProof="1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82CD026-C33E-7E5A-9423-27FD15E66325}"/>
              </a:ext>
            </a:extLst>
          </p:cNvPr>
          <p:cNvSpPr txBox="1">
            <a:spLocks/>
          </p:cNvSpPr>
          <p:nvPr/>
        </p:nvSpPr>
        <p:spPr>
          <a:xfrm>
            <a:off x="6723270" y="1466850"/>
            <a:ext cx="3924300" cy="3584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Transparent maturity model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37505593-2EEE-C270-3304-99E4A39BEF57}"/>
              </a:ext>
            </a:extLst>
          </p:cNvPr>
          <p:cNvSpPr txBox="1">
            <a:spLocks/>
          </p:cNvSpPr>
          <p:nvPr/>
        </p:nvSpPr>
        <p:spPr>
          <a:xfrm>
            <a:off x="6723270" y="1825334"/>
            <a:ext cx="3924300" cy="110809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• Provides objective, criteria-based readiness scoring</a:t>
            </a:r>
            <a:br>
              <a:rPr lang="en-GB" sz="1200" dirty="0"/>
            </a:br>
            <a:r>
              <a:rPr lang="en-GB" sz="1200" dirty="0"/>
              <a:t>• Eliminates ambiguity in production deployment decisions</a:t>
            </a:r>
            <a:br>
              <a:rPr lang="en-GB" sz="1200" dirty="0"/>
            </a:br>
            <a:r>
              <a:rPr lang="en-GB" sz="1200" dirty="0"/>
              <a:t>• Encourages continuous improvement toward higher tiers</a:t>
            </a:r>
            <a:endParaRPr lang="en-US" sz="1200" noProof="1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80510249-6D01-DBBC-E79D-CF55AC407F03}"/>
              </a:ext>
            </a:extLst>
          </p:cNvPr>
          <p:cNvSpPr txBox="1">
            <a:spLocks/>
          </p:cNvSpPr>
          <p:nvPr/>
        </p:nvSpPr>
        <p:spPr>
          <a:xfrm>
            <a:off x="6723270" y="2933425"/>
            <a:ext cx="3924300" cy="3584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Cost governance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A26ED523-DB03-F293-903B-C9892DCA1017}"/>
              </a:ext>
            </a:extLst>
          </p:cNvPr>
          <p:cNvSpPr txBox="1">
            <a:spLocks/>
          </p:cNvSpPr>
          <p:nvPr/>
        </p:nvSpPr>
        <p:spPr>
          <a:xfrm>
            <a:off x="6723270" y="3291908"/>
            <a:ext cx="3924300" cy="11080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• Tracks vendor usage and consumption patterns centrally</a:t>
            </a:r>
            <a:br>
              <a:rPr lang="en-GB" sz="1200" dirty="0"/>
            </a:br>
            <a:r>
              <a:rPr lang="en-GB" sz="1200" dirty="0"/>
              <a:t>• Enables proactive cost threshold monitoring and alerts</a:t>
            </a:r>
            <a:br>
              <a:rPr lang="en-GB" sz="1200" dirty="0"/>
            </a:br>
            <a:r>
              <a:rPr lang="en-GB" sz="1200" dirty="0"/>
              <a:t>• Prevents uncontrolled AI spend across teams</a:t>
            </a:r>
            <a:endParaRPr lang="en-US" sz="1200" noProof="1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C205545-E631-C8C9-2EC6-CA4479E4736D}"/>
              </a:ext>
            </a:extLst>
          </p:cNvPr>
          <p:cNvSpPr txBox="1">
            <a:spLocks/>
          </p:cNvSpPr>
          <p:nvPr/>
        </p:nvSpPr>
        <p:spPr>
          <a:xfrm>
            <a:off x="6723270" y="4459539"/>
            <a:ext cx="3924300" cy="3584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Executive visibility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BF251A9A-D49B-AE49-B988-B8FC6DF4E2E7}"/>
              </a:ext>
            </a:extLst>
          </p:cNvPr>
          <p:cNvSpPr txBox="1">
            <a:spLocks/>
          </p:cNvSpPr>
          <p:nvPr/>
        </p:nvSpPr>
        <p:spPr>
          <a:xfrm>
            <a:off x="6723270" y="4818022"/>
            <a:ext cx="3924300" cy="11080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• Centralized dashboard of AI portfolio health</a:t>
            </a:r>
            <a:br>
              <a:rPr lang="en-GB" sz="1200" dirty="0"/>
            </a:br>
            <a:r>
              <a:rPr lang="en-GB" sz="1200" dirty="0"/>
              <a:t>• Clear mapping of risk, spend, and vendor exposure</a:t>
            </a:r>
            <a:br>
              <a:rPr lang="en-GB" sz="1200" dirty="0"/>
            </a:br>
            <a:r>
              <a:rPr lang="en-GB" sz="1200" dirty="0"/>
              <a:t>• Data-driven oversight of AI adoption strategy</a:t>
            </a:r>
            <a:endParaRPr lang="en-US" sz="1200" noProof="1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C0E0A-2715-4BF9-8659-0ED8629B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75224-81EB-4CDA-BBBE-44B4B2F3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2F697-D1D4-4B0A-B960-D1869BF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41CFA3-D666-228D-43F1-625801AF350B}"/>
              </a:ext>
            </a:extLst>
          </p:cNvPr>
          <p:cNvSpPr txBox="1"/>
          <p:nvPr/>
        </p:nvSpPr>
        <p:spPr>
          <a:xfrm>
            <a:off x="5186938" y="184487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Rather than controlling how teams innovate, I would control how innovation integrates into the enterprise. This design creates a structured pathway from experimentation to production, transforming fragmented AI initiatives into a governed, scalable capability aligned with business strategy.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DA9BB7-6245-85FC-69F3-E150DDB9FFCF}"/>
              </a:ext>
            </a:extLst>
          </p:cNvPr>
          <p:cNvSpPr txBox="1"/>
          <p:nvPr/>
        </p:nvSpPr>
        <p:spPr>
          <a:xfrm>
            <a:off x="5186240" y="4669788"/>
            <a:ext cx="60966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Future Enhancements:</a:t>
            </a:r>
          </a:p>
          <a:p>
            <a:pPr>
              <a:buNone/>
            </a:pPr>
            <a:r>
              <a:rPr lang="en-GB" dirty="0"/>
              <a:t>• Drift detection</a:t>
            </a:r>
            <a:br>
              <a:rPr lang="en-GB" dirty="0"/>
            </a:br>
            <a:r>
              <a:rPr lang="en-GB" dirty="0"/>
              <a:t>• AI security red-teaming</a:t>
            </a:r>
            <a:br>
              <a:rPr lang="en-GB" dirty="0"/>
            </a:br>
            <a:r>
              <a:rPr lang="en-GB" dirty="0"/>
              <a:t>• Bias monitoring</a:t>
            </a:r>
            <a:br>
              <a:rPr lang="en-GB" dirty="0"/>
            </a:br>
            <a:r>
              <a:rPr lang="en-GB" dirty="0"/>
              <a:t>• Automated promotion workflows</a:t>
            </a:r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{47631443-9510-4F5F-90D6-9CE8747649DB}TF1ed81438-95a7-4ae9-841d-43ea2c64f7fc8ae7ff09_win32-aa52a5bb69e3</Template>
  <TotalTime>162</TotalTime>
  <Words>703</Words>
  <Application>Microsoft Office PowerPoint</Application>
  <PresentationFormat>Widescreen</PresentationFormat>
  <Paragraphs>108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Tenorite</vt:lpstr>
      <vt:lpstr>Monoline</vt:lpstr>
      <vt:lpstr>Scaling Project X Across AI POCs </vt:lpstr>
      <vt:lpstr>The Enterprise Reality</vt:lpstr>
      <vt:lpstr>PROBLEM</vt:lpstr>
      <vt:lpstr>Standardize Integration, Not Innovation</vt:lpstr>
      <vt:lpstr>Governance Layer Capabilities</vt:lpstr>
      <vt:lpstr>Maturity Tier Model</vt:lpstr>
      <vt:lpstr>Runtime Enforcement Flow</vt:lpstr>
      <vt:lpstr>evolution into  AI Control PlanE</vt:lpstr>
      <vt:lpstr>MVP Architecture (What I Would Build First)</vt:lpstr>
      <vt:lpstr>Enterprise Benefits</vt:lpstr>
      <vt:lpstr>Summary</vt:lpstr>
    </vt:vector>
  </TitlesOfParts>
  <Company>Emirates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Janani Ramgopal</dc:creator>
  <cp:lastModifiedBy>Janani Ramgopal</cp:lastModifiedBy>
  <cp:revision>6</cp:revision>
  <dcterms:created xsi:type="dcterms:W3CDTF">2026-02-15T07:28:49Z</dcterms:created>
  <dcterms:modified xsi:type="dcterms:W3CDTF">2026-02-15T19:04:37Z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c7962db2-8021-4672-ab50-833f15a1c47a_Enabled">
    <vt:lpwstr>true</vt:lpwstr>
  </property>
  <property fmtid="{D5CDD505-2E9C-101B-9397-08002B2CF9AE}" pid="4" name="MSIP_Label_c7962db2-8021-4672-ab50-833f15a1c47a_SetDate">
    <vt:lpwstr>2026-02-15T08:00:51Z</vt:lpwstr>
  </property>
  <property fmtid="{D5CDD505-2E9C-101B-9397-08002B2CF9AE}" pid="5" name="MSIP_Label_c7962db2-8021-4672-ab50-833f15a1c47a_Method">
    <vt:lpwstr>Standard</vt:lpwstr>
  </property>
  <property fmtid="{D5CDD505-2E9C-101B-9397-08002B2CF9AE}" pid="6" name="MSIP_Label_c7962db2-8021-4672-ab50-833f15a1c47a_Name">
    <vt:lpwstr>c7962db2-8021-4672-ab50-833f15a1c47a</vt:lpwstr>
  </property>
  <property fmtid="{D5CDD505-2E9C-101B-9397-08002B2CF9AE}" pid="7" name="MSIP_Label_c7962db2-8021-4672-ab50-833f15a1c47a_SiteId">
    <vt:lpwstr>e0b26355-1889-40d8-8ef1-e559616befda</vt:lpwstr>
  </property>
  <property fmtid="{D5CDD505-2E9C-101B-9397-08002B2CF9AE}" pid="8" name="MSIP_Label_c7962db2-8021-4672-ab50-833f15a1c47a_ActionId">
    <vt:lpwstr>27d4267b-7227-4452-a4d0-eac6c102e008</vt:lpwstr>
  </property>
  <property fmtid="{D5CDD505-2E9C-101B-9397-08002B2CF9AE}" pid="9" name="MSIP_Label_c7962db2-8021-4672-ab50-833f15a1c47a_ContentBits">
    <vt:lpwstr>2</vt:lpwstr>
  </property>
  <property fmtid="{D5CDD505-2E9C-101B-9397-08002B2CF9AE}" pid="10" name="MSIP_Label_c7962db2-8021-4672-ab50-833f15a1c47a_Tag">
    <vt:lpwstr>10, 3, 0, 1</vt:lpwstr>
  </property>
  <property fmtid="{D5CDD505-2E9C-101B-9397-08002B2CF9AE}" pid="11" name="ClassificationContentMarkingFooterLocations">
    <vt:lpwstr>Monoline:8</vt:lpwstr>
  </property>
  <property fmtid="{D5CDD505-2E9C-101B-9397-08002B2CF9AE}" pid="12" name="ClassificationContentMarkingFooterText">
    <vt:lpwstr>BUSINESS DOCUMENT  This document is intended for business use and should be distributed to intended recipients only.</vt:lpwstr>
  </property>
</Properties>
</file>